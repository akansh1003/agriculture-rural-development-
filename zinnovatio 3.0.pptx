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7"/>
  </p:notesMasterIdLst>
  <p:sldIdLst>
    <p:sldId id="291" r:id="rId2"/>
    <p:sldId id="281" r:id="rId3"/>
    <p:sldId id="293" r:id="rId4"/>
    <p:sldId id="297" r:id="rId5"/>
    <p:sldId id="294" r:id="rId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BBB59"/>
    <a:srgbClr val="010000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25B24-09AE-6814-AA0A-1C24FA33F802}" v="929" dt="2025-10-06T10:18:34.994"/>
    <p1510:client id="{645508A2-7921-4C98-B3C7-9D3EE534FCE9}" v="519" dt="2025-10-05T21:44:51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 snapToObjects="1" showGuides="1">
      <p:cViewPr varScale="1">
        <p:scale>
          <a:sx n="95" d="100"/>
          <a:sy n="95" d="100"/>
        </p:scale>
        <p:origin x="677" y="91"/>
      </p:cViewPr>
      <p:guideLst>
        <p:guide orient="horz" pos="211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554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Kerala_Agricultural_University?utm_source=chatgpt.com" TargetMode="External"/><Relationship Id="rId4" Type="http://schemas.openxmlformats.org/officeDocument/2006/relationships/hyperlink" Target="https://agmarknet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4353B02D-A976-6305-4BE1-3BBEEA313BE3}"/>
              </a:ext>
            </a:extLst>
          </p:cNvPr>
          <p:cNvSpPr/>
          <p:nvPr/>
        </p:nvSpPr>
        <p:spPr>
          <a:xfrm>
            <a:off x="1374649" y="1149178"/>
            <a:ext cx="2492027" cy="2191263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13481AE2-5FCC-24E3-59B8-FB56EAC5124E}"/>
              </a:ext>
            </a:extLst>
          </p:cNvPr>
          <p:cNvSpPr/>
          <p:nvPr/>
        </p:nvSpPr>
        <p:spPr>
          <a:xfrm>
            <a:off x="1374649" y="3527853"/>
            <a:ext cx="2492027" cy="2191263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180B3B77-7304-ED70-55A6-6E8116F4D105}"/>
              </a:ext>
            </a:extLst>
          </p:cNvPr>
          <p:cNvSpPr/>
          <p:nvPr/>
        </p:nvSpPr>
        <p:spPr>
          <a:xfrm>
            <a:off x="-684811" y="2384853"/>
            <a:ext cx="2492027" cy="2191263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9A81DEF8-083A-164C-0F44-4DF35B1240DD}"/>
              </a:ext>
            </a:extLst>
          </p:cNvPr>
          <p:cNvSpPr/>
          <p:nvPr/>
        </p:nvSpPr>
        <p:spPr>
          <a:xfrm>
            <a:off x="3495892" y="-158579"/>
            <a:ext cx="2594999" cy="2294235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6374FAF9-8E7D-F161-FA09-E115F80E33BD}"/>
              </a:ext>
            </a:extLst>
          </p:cNvPr>
          <p:cNvSpPr/>
          <p:nvPr/>
        </p:nvSpPr>
        <p:spPr>
          <a:xfrm>
            <a:off x="1323162" y="-1301579"/>
            <a:ext cx="2594999" cy="2294235"/>
          </a:xfrm>
          <a:prstGeom prst="hexagon">
            <a:avLst/>
          </a:prstGeom>
          <a:solidFill>
            <a:srgbClr val="00B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91616D38-AF68-A818-6BBB-F4F349B6BE0E}"/>
              </a:ext>
            </a:extLst>
          </p:cNvPr>
          <p:cNvSpPr/>
          <p:nvPr/>
        </p:nvSpPr>
        <p:spPr>
          <a:xfrm>
            <a:off x="-787784" y="4712043"/>
            <a:ext cx="2594999" cy="2294235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4E5F8386-C629-F0F0-5101-BDABDF76810F}"/>
              </a:ext>
            </a:extLst>
          </p:cNvPr>
          <p:cNvSpPr/>
          <p:nvPr/>
        </p:nvSpPr>
        <p:spPr>
          <a:xfrm>
            <a:off x="3495892" y="4712043"/>
            <a:ext cx="2594999" cy="2294235"/>
          </a:xfrm>
          <a:prstGeom prst="hexago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D4CA9BE3-DF64-F8FC-8AF8-C99575FC0075}"/>
              </a:ext>
            </a:extLst>
          </p:cNvPr>
          <p:cNvSpPr/>
          <p:nvPr/>
        </p:nvSpPr>
        <p:spPr>
          <a:xfrm>
            <a:off x="1374649" y="5855043"/>
            <a:ext cx="2594999" cy="2294235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DECC961E-D6C5-6021-2CD4-2E4A3EA18F0A}"/>
              </a:ext>
            </a:extLst>
          </p:cNvPr>
          <p:cNvSpPr/>
          <p:nvPr/>
        </p:nvSpPr>
        <p:spPr>
          <a:xfrm>
            <a:off x="-666203" y="3121"/>
            <a:ext cx="2492027" cy="2191263"/>
          </a:xfrm>
          <a:prstGeom prst="hexago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B0AACA3B-B7B9-BA23-467B-B7C2045C0E4F}"/>
              </a:ext>
            </a:extLst>
          </p:cNvPr>
          <p:cNvSpPr/>
          <p:nvPr/>
        </p:nvSpPr>
        <p:spPr>
          <a:xfrm>
            <a:off x="3498201" y="2279821"/>
            <a:ext cx="2594999" cy="2294235"/>
          </a:xfrm>
          <a:prstGeom prst="hexagon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CDB81A-0526-CC8E-FCCB-5D26BBDCC7A6}"/>
              </a:ext>
            </a:extLst>
          </p:cNvPr>
          <p:cNvSpPr txBox="1"/>
          <p:nvPr/>
        </p:nvSpPr>
        <p:spPr>
          <a:xfrm>
            <a:off x="6289588" y="986482"/>
            <a:ext cx="590447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 dirty="0">
                <a:latin typeface="Arial"/>
                <a:ea typeface="MS PGothic"/>
                <a:cs typeface="Calibri"/>
              </a:rPr>
              <a:t>Sprout7 AgriTech Transformation </a:t>
            </a:r>
          </a:p>
          <a:p>
            <a:endParaRPr lang="en-US" sz="1600" b="1" i="1" dirty="0">
              <a:latin typeface="Arial"/>
              <a:ea typeface="MS PGothic"/>
              <a:cs typeface="Calibri"/>
            </a:endParaRPr>
          </a:p>
          <a:p>
            <a:r>
              <a:rPr lang="en-US" sz="1600" b="1" i="1" err="1">
                <a:latin typeface="Arial"/>
                <a:ea typeface="MS PGothic"/>
                <a:cs typeface="Calibri"/>
              </a:rPr>
              <a:t>Zinnovatio</a:t>
            </a:r>
            <a:r>
              <a:rPr lang="en-US" sz="1600" b="1" i="1" dirty="0">
                <a:latin typeface="Arial"/>
                <a:ea typeface="MS PGothic"/>
                <a:cs typeface="Calibri"/>
              </a:rPr>
              <a:t> 3.0 – Agriculture &amp; Rural Development </a:t>
            </a:r>
          </a:p>
          <a:p>
            <a:endParaRPr lang="en-US" sz="1600" b="1" i="1" dirty="0">
              <a:latin typeface="Arial"/>
              <a:ea typeface="MS PGothic"/>
              <a:cs typeface="Calibri"/>
            </a:endParaRPr>
          </a:p>
          <a:p>
            <a:r>
              <a:rPr lang="en-US" sz="1600" b="1" i="1" dirty="0">
                <a:latin typeface="Arial"/>
                <a:ea typeface="MS PGothic"/>
                <a:cs typeface="Calibri"/>
              </a:rPr>
              <a:t>Tagline: “Smart Farming. Stronger Rural Economy.” </a:t>
            </a:r>
            <a:endParaRPr lang="en-US" sz="1600" b="1" i="1">
              <a:latin typeface="Arial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323A1C-350B-DBC3-9EDA-600BE5259215}"/>
              </a:ext>
            </a:extLst>
          </p:cNvPr>
          <p:cNvSpPr txBox="1"/>
          <p:nvPr/>
        </p:nvSpPr>
        <p:spPr>
          <a:xfrm>
            <a:off x="6989806" y="100913"/>
            <a:ext cx="37420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u="sng" dirty="0">
                <a:solidFill>
                  <a:srgbClr val="00B050"/>
                </a:solidFill>
                <a:latin typeface="Calibri"/>
                <a:ea typeface="MS PGothic"/>
                <a:cs typeface="Calibri"/>
              </a:rPr>
              <a:t>ZINNOVATIA 3.0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2DCE0F-0BB3-FE1E-9276-B34EADD9428A}"/>
              </a:ext>
            </a:extLst>
          </p:cNvPr>
          <p:cNvSpPr txBox="1"/>
          <p:nvPr/>
        </p:nvSpPr>
        <p:spPr>
          <a:xfrm>
            <a:off x="6093941" y="3622589"/>
            <a:ext cx="619279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1" dirty="0">
                <a:latin typeface="Arial"/>
                <a:ea typeface="MS PGothic"/>
              </a:rPr>
              <a:t>TEAM: SPROUT 7</a:t>
            </a:r>
            <a:endParaRPr lang="en-US" sz="2400" b="1" i="1">
              <a:latin typeface="Arial"/>
              <a:ea typeface="MS PGothic"/>
              <a:cs typeface="Calibri"/>
            </a:endParaRPr>
          </a:p>
          <a:p>
            <a:endParaRPr lang="en-US" sz="1600" b="1" i="1" dirty="0">
              <a:latin typeface="Arial"/>
              <a:ea typeface="MS PGothic"/>
              <a:cs typeface="Arial"/>
            </a:endParaRPr>
          </a:p>
          <a:p>
            <a:r>
              <a:rPr lang="en-US" sz="1400" b="1" i="1" dirty="0">
                <a:latin typeface="Arial"/>
                <a:ea typeface="MS PGothic"/>
                <a:cs typeface="Arial"/>
              </a:rPr>
              <a:t>TEAM LEADER - HARSH PANDEY      [BTECH CSE DS+AI 2ND Y]</a:t>
            </a:r>
          </a:p>
          <a:p>
            <a:r>
              <a:rPr lang="en-US" sz="1400" b="1" i="1" dirty="0">
                <a:latin typeface="Arial"/>
                <a:ea typeface="MS PGothic"/>
                <a:cs typeface="Arial"/>
              </a:rPr>
              <a:t>TEAM MEMBER- MADHUR SHUKLA  [BTECH CSE DS+AI 2ND Y]</a:t>
            </a:r>
          </a:p>
          <a:p>
            <a:r>
              <a:rPr lang="en-US" sz="1400" b="1" i="1" dirty="0">
                <a:latin typeface="Arial"/>
                <a:ea typeface="MS PGothic"/>
                <a:cs typeface="Arial"/>
              </a:rPr>
              <a:t>TEAM MEMBER- SURAJ DUBEY        [BTECH CSE DS+AI 2ND Y]</a:t>
            </a:r>
            <a:endParaRPr lang="en-US" sz="1400" b="1" i="1" dirty="0">
              <a:latin typeface="Arial"/>
              <a:cs typeface="Arial"/>
            </a:endParaRPr>
          </a:p>
          <a:p>
            <a:r>
              <a:rPr lang="en-US" sz="1400" b="1" i="1" dirty="0">
                <a:latin typeface="Arial"/>
                <a:ea typeface="MS PGothic"/>
                <a:cs typeface="Arial"/>
              </a:rPr>
              <a:t>TEAM MEMBER- AIMEN ABIDI            [BTECH CSE ML+AI 2ND Y]</a:t>
            </a:r>
            <a:endParaRPr lang="en-US" sz="1400" b="1" i="1" dirty="0">
              <a:latin typeface="Arial"/>
              <a:cs typeface="Arial"/>
            </a:endParaRPr>
          </a:p>
          <a:p>
            <a:r>
              <a:rPr lang="en-US" sz="1400" b="1" i="1" dirty="0">
                <a:latin typeface="Arial"/>
                <a:ea typeface="MS PGothic"/>
                <a:cs typeface="Arial"/>
              </a:rPr>
              <a:t>TEAM MEMBER- ABHIGYAN SRIVASTAVA  [BTECH CSE DS+AI 2ND Y]</a:t>
            </a:r>
            <a:endParaRPr lang="en-US" sz="1400" dirty="0">
              <a:cs typeface="Calibri"/>
            </a:endParaRPr>
          </a:p>
          <a:p>
            <a:endParaRPr lang="en-US" sz="1600" b="1" i="1" dirty="0">
              <a:latin typeface="Arial"/>
              <a:ea typeface="MS PGothic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 0"/>
          <p:cNvSpPr/>
          <p:nvPr/>
        </p:nvSpPr>
        <p:spPr>
          <a:xfrm>
            <a:off x="-822305" y="1205948"/>
            <a:ext cx="716288" cy="661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19" name="Text 3"/>
          <p:cNvSpPr/>
          <p:nvPr/>
        </p:nvSpPr>
        <p:spPr>
          <a:xfrm>
            <a:off x="949015" y="2319129"/>
            <a:ext cx="1928257" cy="1331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1" name="Text 5"/>
          <p:cNvSpPr/>
          <p:nvPr/>
        </p:nvSpPr>
        <p:spPr>
          <a:xfrm>
            <a:off x="2782530" y="2433006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4406AAA-468A-4C5F-99EB-EAB2FFBE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756A9-8FE0-EB15-518A-219CEC006DD8}"/>
              </a:ext>
            </a:extLst>
          </p:cNvPr>
          <p:cNvSpPr txBox="1"/>
          <p:nvPr/>
        </p:nvSpPr>
        <p:spPr>
          <a:xfrm>
            <a:off x="607541" y="1204784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000" b="1" u="sng" dirty="0">
                <a:latin typeface="Arial"/>
                <a:ea typeface="MS PGothic"/>
                <a:cs typeface="Arial"/>
              </a:rPr>
              <a:t>Problem Overview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419057-9487-55E4-4368-F122E125C9E0}"/>
              </a:ext>
            </a:extLst>
          </p:cNvPr>
          <p:cNvSpPr txBox="1"/>
          <p:nvPr/>
        </p:nvSpPr>
        <p:spPr>
          <a:xfrm>
            <a:off x="607541" y="1668163"/>
            <a:ext cx="1083275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MS PGothic"/>
                <a:cs typeface="Calibri"/>
              </a:rPr>
              <a:t>• </a:t>
            </a:r>
            <a:r>
              <a:rPr lang="en-US" sz="1600" dirty="0">
                <a:latin typeface="Calibri"/>
                <a:ea typeface="MS PGothic"/>
                <a:cs typeface="Calibri"/>
              </a:rPr>
              <a:t>Farmers income remains low due to inefficient farming and weak market linkages. </a:t>
            </a: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Poor water management and soil degradation reduce productivity. </a:t>
            </a: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Weak supply chains lead to post-harvest losses and low profits. </a:t>
            </a:r>
            <a:endParaRPr lang="en-US" sz="1600">
              <a:cs typeface="Calibri" panose="020F0502020204030204" pitchFamily="34" charset="0"/>
            </a:endParaRP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Limited use of precision agriculture, drones, and fine tech solutions. </a:t>
            </a:r>
            <a:endParaRPr lang="en-US" sz="1600">
              <a:cs typeface="Calibri"/>
            </a:endParaRP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Lack of rural digital platforms connecting enterprises and farmers</a:t>
            </a:r>
            <a:endParaRPr lang="en-US" sz="1600"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07F489-082B-971A-2995-004BC06EC959}"/>
              </a:ext>
            </a:extLst>
          </p:cNvPr>
          <p:cNvSpPr txBox="1"/>
          <p:nvPr/>
        </p:nvSpPr>
        <p:spPr>
          <a:xfrm>
            <a:off x="607541" y="3140676"/>
            <a:ext cx="68682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000" b="1" u="sng" dirty="0">
                <a:latin typeface="Arial"/>
                <a:ea typeface="MS PGothic"/>
                <a:cs typeface="Arial"/>
              </a:rPr>
              <a:t>Proposed Solution: Sprout7 AgriTech Platform</a:t>
            </a: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380B11-78DF-1C87-6488-2F3A36CD07C3}"/>
              </a:ext>
            </a:extLst>
          </p:cNvPr>
          <p:cNvSpPr txBox="1"/>
          <p:nvPr/>
        </p:nvSpPr>
        <p:spPr>
          <a:xfrm>
            <a:off x="607541" y="3645243"/>
            <a:ext cx="88144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alibri"/>
                <a:ea typeface="MS PGothic"/>
                <a:cs typeface="Calibri"/>
              </a:rPr>
              <a:t>• IoT &amp; Drone-based precision farming for field monitoring. </a:t>
            </a:r>
            <a:endParaRPr lang="en-US"/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Soil health tracking with AI-driven recommendations. </a:t>
            </a:r>
            <a:endParaRPr lang="en-US">
              <a:cs typeface="Calibri" panose="020F0502020204030204" pitchFamily="34" charset="0"/>
            </a:endParaRP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Smart irrigation and water analytics. </a:t>
            </a:r>
            <a:endParaRPr lang="en-US" dirty="0">
              <a:cs typeface="Calibri"/>
            </a:endParaRP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Digital supply-chain management connecting farms to markets. </a:t>
            </a:r>
            <a:endParaRPr lang="en-US">
              <a:cs typeface="Calibri"/>
            </a:endParaRP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Fintech integration for credit, insurance, and payments. </a:t>
            </a:r>
            <a:endParaRPr lang="en-US">
              <a:cs typeface="Calibri"/>
            </a:endParaRPr>
          </a:p>
          <a:p>
            <a:r>
              <a:rPr lang="en-US" sz="1600" dirty="0">
                <a:latin typeface="Calibri"/>
                <a:ea typeface="MS PGothic"/>
                <a:cs typeface="Calibri"/>
              </a:rPr>
              <a:t>• Multilingual AI chatbot for farmer support. </a:t>
            </a:r>
            <a:endParaRPr lang="en-US" dirty="0">
              <a:cs typeface="Calibri"/>
            </a:endParaRPr>
          </a:p>
        </p:txBody>
      </p:sp>
      <p:pic>
        <p:nvPicPr>
          <p:cNvPr id="28" name="Picture 27" descr="A diagram of a farm&#10;&#10;AI-generated content may be incorrect.">
            <a:extLst>
              <a:ext uri="{FF2B5EF4-FFF2-40B4-BE49-F238E27FC236}">
                <a16:creationId xmlns:a16="http://schemas.microsoft.com/office/drawing/2014/main" id="{A7E29D1D-F609-FC32-378C-DD4D7671A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193" y="1400432"/>
            <a:ext cx="4560208" cy="5457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9C4B2A-C2DF-9357-E32D-DD220C3A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88264-21B4-76A0-D301-45358749C210}"/>
              </a:ext>
            </a:extLst>
          </p:cNvPr>
          <p:cNvSpPr txBox="1"/>
          <p:nvPr/>
        </p:nvSpPr>
        <p:spPr>
          <a:xfrm>
            <a:off x="607541" y="1091514"/>
            <a:ext cx="6096000" cy="46166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 b="1" u="sng" dirty="0">
                <a:latin typeface="Arial"/>
                <a:ea typeface="MS PGothic"/>
                <a:cs typeface="Arial"/>
              </a:rPr>
              <a:t>Technical Approach</a:t>
            </a:r>
            <a:endParaRPr lang="en-US"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51231-8D35-DC99-D8F3-43E61CFAF918}"/>
              </a:ext>
            </a:extLst>
          </p:cNvPr>
          <p:cNvSpPr txBox="1"/>
          <p:nvPr/>
        </p:nvSpPr>
        <p:spPr>
          <a:xfrm>
            <a:off x="607541" y="1554893"/>
            <a:ext cx="6096000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>
                <a:latin typeface="Arial"/>
                <a:ea typeface="MS PGothic"/>
                <a:cs typeface="Calibri"/>
              </a:rPr>
              <a:t>Frontend</a:t>
            </a:r>
            <a:r>
              <a:rPr lang="en-US" sz="2000" b="1" dirty="0">
                <a:latin typeface="Arial"/>
                <a:ea typeface="MS PGothic"/>
                <a:cs typeface="Calibri"/>
              </a:rPr>
              <a:t>: </a:t>
            </a:r>
          </a:p>
          <a:p>
            <a:r>
              <a:rPr lang="en-US" dirty="0">
                <a:latin typeface="Calibri"/>
                <a:ea typeface="MS PGothic"/>
                <a:cs typeface="Calibri"/>
              </a:rPr>
              <a:t>• Farmer dashboard (React) – crops, alerts, finances. </a:t>
            </a:r>
          </a:p>
          <a:p>
            <a:r>
              <a:rPr lang="en-US" dirty="0">
                <a:latin typeface="Calibri"/>
                <a:ea typeface="MS PGothic"/>
                <a:cs typeface="Calibri"/>
              </a:rPr>
              <a:t>• Drone imagery and analytics dashboard. </a:t>
            </a:r>
            <a:endParaRPr lang="en-US">
              <a:cs typeface="Calibri" panose="020F0502020204030204" pitchFamily="34" charset="0"/>
            </a:endParaRPr>
          </a:p>
          <a:p>
            <a:r>
              <a:rPr lang="en-US" dirty="0">
                <a:latin typeface="Calibri"/>
                <a:ea typeface="MS PGothic"/>
                <a:cs typeface="Calibri"/>
              </a:rPr>
              <a:t>• Local language chatbot (text/voice). </a:t>
            </a:r>
            <a:endParaRPr lang="en-US">
              <a:cs typeface="Calibri"/>
            </a:endParaRPr>
          </a:p>
          <a:p>
            <a:endParaRPr lang="en-US" dirty="0">
              <a:latin typeface="Calibri"/>
              <a:ea typeface="MS PGothic"/>
              <a:cs typeface="Calibri"/>
            </a:endParaRPr>
          </a:p>
          <a:p>
            <a:r>
              <a:rPr lang="en-US" sz="2000" b="1" u="sng" dirty="0">
                <a:latin typeface="Arial"/>
                <a:ea typeface="MS PGothic"/>
                <a:cs typeface="Calibri"/>
              </a:rPr>
              <a:t>Backend &amp; AI Engine: </a:t>
            </a:r>
            <a:endParaRPr lang="en-US" sz="2000" b="1" u="sng" dirty="0">
              <a:latin typeface="Arial"/>
              <a:cs typeface="Calibri"/>
            </a:endParaRPr>
          </a:p>
          <a:p>
            <a:r>
              <a:rPr lang="en-US" dirty="0">
                <a:latin typeface="Calibri"/>
                <a:ea typeface="MS PGothic"/>
                <a:cs typeface="Calibri"/>
              </a:rPr>
              <a:t>• Predictive analytics for yield, weather, and irrigation (Python). • Computer vision for drone imagery analysis. </a:t>
            </a:r>
            <a:endParaRPr lang="en-US">
              <a:cs typeface="Calibri"/>
            </a:endParaRPr>
          </a:p>
          <a:p>
            <a:r>
              <a:rPr lang="en-US" dirty="0">
                <a:latin typeface="Calibri"/>
                <a:ea typeface="MS PGothic"/>
                <a:cs typeface="Calibri"/>
              </a:rPr>
              <a:t>• Blockchain for transparent supply-chain tracking. </a:t>
            </a:r>
            <a:endParaRPr lang="en-US">
              <a:cs typeface="Calibri"/>
            </a:endParaRPr>
          </a:p>
          <a:p>
            <a:r>
              <a:rPr lang="en-US" dirty="0">
                <a:latin typeface="Calibri"/>
                <a:ea typeface="MS PGothic"/>
                <a:cs typeface="Calibri"/>
              </a:rPr>
              <a:t>• Node.js + PostgreSQL for secure, scalable architecture</a:t>
            </a:r>
          </a:p>
          <a:p>
            <a:endParaRPr lang="en-US" dirty="0">
              <a:latin typeface="Calibri"/>
              <a:ea typeface="MS PGothic"/>
              <a:cs typeface="Calibri"/>
            </a:endParaRPr>
          </a:p>
          <a:p>
            <a:r>
              <a:rPr lang="en-US" sz="2000" b="1" u="sng" dirty="0">
                <a:latin typeface="Arial"/>
                <a:ea typeface="Calibri"/>
                <a:cs typeface="Calibri"/>
              </a:rPr>
              <a:t>Integrated Systems: </a:t>
            </a:r>
            <a:endParaRPr lang="en-US" sz="2000" b="1" u="sng" dirty="0">
              <a:latin typeface="Arial"/>
              <a:cs typeface="Calibri" panose="020F0502020204030204" pitchFamily="34" charset="0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• APIs: weather, soil, market data. </a:t>
            </a:r>
            <a:endParaRPr lang="en-US" dirty="0">
              <a:latin typeface="MS PGothic" panose="020B0600070205080204" pitchFamily="1" charset="-128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• IoT + Drone data fusion. </a:t>
            </a:r>
            <a:endParaRPr lang="en-US">
              <a:latin typeface="MS PGothic" panose="020B0600070205080204" pitchFamily="1" charset="-128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• Fintech API for transactions and risk scoring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BCE0A5-5F45-55BA-329A-B8AD73630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540" y="1096242"/>
            <a:ext cx="5395785" cy="5761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4154-C551-323C-4115-8601C7D4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4C730-9214-9FCA-9490-9ADBA675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C72BE4-104E-3529-FA53-FDA76BAF17CF}"/>
              </a:ext>
            </a:extLst>
          </p:cNvPr>
          <p:cNvSpPr/>
          <p:nvPr/>
        </p:nvSpPr>
        <p:spPr>
          <a:xfrm>
            <a:off x="612432" y="1096403"/>
            <a:ext cx="5990967" cy="23251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u="sng" dirty="0">
                <a:solidFill>
                  <a:schemeClr val="tx1"/>
                </a:solidFill>
                <a:latin typeface="Arial"/>
                <a:cs typeface="Arial"/>
              </a:rPr>
              <a:t>Feasibility: </a:t>
            </a:r>
            <a:endParaRPr lang="en-US" b="1" u="sng" dirty="0">
              <a:solidFill>
                <a:schemeClr val="tx1"/>
              </a:solidFill>
              <a:latin typeface="Arial"/>
              <a:ea typeface="Calibri"/>
              <a:cs typeface="Arial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Integration with government data (Soil Health Card, IMD, Ag-market). 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Collaboration with drone service providers and </a:t>
            </a:r>
            <a:r>
              <a:rPr lang="en-US" sz="1400" dirty="0" err="1">
                <a:solidFill>
                  <a:schemeClr val="tx1"/>
                </a:solidFill>
              </a:rPr>
              <a:t>agri</a:t>
            </a:r>
            <a:r>
              <a:rPr lang="en-US" sz="1400" dirty="0">
                <a:solidFill>
                  <a:schemeClr val="tx1"/>
                </a:solidFill>
              </a:rPr>
              <a:t>-fintech startups. 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Scalable design works offline for remote areas. 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 u="sng" dirty="0">
                <a:solidFill>
                  <a:schemeClr val="tx1"/>
                </a:solidFill>
                <a:latin typeface="Arial"/>
                <a:cs typeface="Arial"/>
              </a:rPr>
              <a:t>Viability: </a:t>
            </a:r>
            <a:endParaRPr lang="en-US" b="1" u="sng" dirty="0">
              <a:solidFill>
                <a:schemeClr val="tx1"/>
              </a:solidFill>
              <a:latin typeface="Arial"/>
              <a:ea typeface="Calibri"/>
              <a:cs typeface="Arial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Increases yield and reduces input costs via precision farming. 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Strengthens rural economy through tech-driven enterprises. 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ROI through public-private partnerships and subscriptions. 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Promotes sustainable, climate-smart agriculture.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7C9D2B-0E73-6500-C5CF-65351A50F375}"/>
              </a:ext>
            </a:extLst>
          </p:cNvPr>
          <p:cNvSpPr/>
          <p:nvPr/>
        </p:nvSpPr>
        <p:spPr>
          <a:xfrm>
            <a:off x="611146" y="3638552"/>
            <a:ext cx="5990965" cy="29017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solidFill>
                  <a:schemeClr val="tx1"/>
                </a:solidFill>
                <a:latin typeface="Arial"/>
                <a:cs typeface="Arial"/>
              </a:rPr>
              <a:t>Impact: </a:t>
            </a:r>
            <a:endParaRPr lang="en-US" sz="2000" b="1" u="sng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30–40% water savings via smart irrigation.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20% reduction in pest-related losses with drone monitoring.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Improved soil fertility and reduced chemical usage.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Greater financial inclusion through digital tools.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Creates rural employment in drone and data services.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2000" b="1" u="sng" dirty="0">
                <a:solidFill>
                  <a:schemeClr val="tx1"/>
                </a:solidFill>
                <a:latin typeface="Arial"/>
                <a:cs typeface="Arial"/>
              </a:rPr>
              <a:t>Benefits: </a:t>
            </a:r>
            <a:endParaRPr lang="en-US" sz="2000" b="1" u="sng">
              <a:solidFill>
                <a:schemeClr val="tx1"/>
              </a:solidFill>
              <a:latin typeface="Arial"/>
              <a:ea typeface="Calibri"/>
              <a:cs typeface="Arial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Data-driven decisions for farmers.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Efficient supply chains and transparent transactions.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Sustainable agricultural practices.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Inspires youth to adopt modern farming. 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• Builds a strong, resilient rural economy.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581F9A-2A95-146C-7C40-8571FA15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867" y="3744610"/>
            <a:ext cx="4057447" cy="2804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512227-5FAB-8172-4E59-36FCEEBD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087" y="1159021"/>
            <a:ext cx="4052041" cy="25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7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holding a tablet in a farm&#10;&#10;AI-generated content may be incorrect.">
            <a:extLst>
              <a:ext uri="{FF2B5EF4-FFF2-40B4-BE49-F238E27FC236}">
                <a16:creationId xmlns:a16="http://schemas.microsoft.com/office/drawing/2014/main" id="{11BD7015-E9A5-5F44-5872-535A80CC1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930" y="1210063"/>
            <a:ext cx="5911680" cy="5395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6B39FBC-54A9-BB6D-FD12-9E7927F9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8CDDC-A261-C6BF-F107-5C806DAD01E2}"/>
              </a:ext>
            </a:extLst>
          </p:cNvPr>
          <p:cNvSpPr txBox="1"/>
          <p:nvPr/>
        </p:nvSpPr>
        <p:spPr>
          <a:xfrm>
            <a:off x="0" y="1204784"/>
            <a:ext cx="5787082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000" b="1" u="sng" dirty="0">
                <a:latin typeface="Arial"/>
                <a:ea typeface="MS PGothic"/>
                <a:cs typeface="Calibri"/>
              </a:rPr>
              <a:t>Research &amp; References </a:t>
            </a:r>
            <a:endParaRPr lang="en-US" u="sng" dirty="0">
              <a:cs typeface="Calibri"/>
            </a:endParaRPr>
          </a:p>
          <a:p>
            <a:endParaRPr lang="en-US" sz="2000" b="1" u="sng" dirty="0">
              <a:latin typeface="Arial"/>
              <a:ea typeface="MS PGothic"/>
              <a:cs typeface="Calibri"/>
            </a:endParaRPr>
          </a:p>
          <a:p>
            <a:r>
              <a:rPr lang="en-US" sz="1600" b="1" dirty="0">
                <a:latin typeface="Calibri"/>
                <a:ea typeface="MS PGothic"/>
                <a:cs typeface="Calibri"/>
              </a:rPr>
              <a:t>• Soil Health Card Portal – https://soilhealth.dac.gov.in/ </a:t>
            </a:r>
          </a:p>
          <a:p>
            <a:endParaRPr lang="en-US" sz="1600" b="1" dirty="0">
              <a:latin typeface="Calibri"/>
              <a:ea typeface="MS PGothic"/>
              <a:cs typeface="Calibri"/>
            </a:endParaRPr>
          </a:p>
          <a:p>
            <a:r>
              <a:rPr lang="en-US" sz="1600" b="1" dirty="0">
                <a:latin typeface="Calibri"/>
                <a:ea typeface="MS PGothic"/>
                <a:cs typeface="Calibri"/>
              </a:rPr>
              <a:t>• Ag-market – </a:t>
            </a:r>
            <a:r>
              <a:rPr lang="en-US" sz="1600" b="1" dirty="0">
                <a:latin typeface="Calibri"/>
                <a:ea typeface="MS PGothic"/>
                <a:cs typeface="Calibri"/>
                <a:hlinkClick r:id="rId4"/>
              </a:rPr>
              <a:t>https://agmarknet.gov.in/</a:t>
            </a:r>
            <a:endParaRPr lang="en-US" sz="1600" b="1">
              <a:cs typeface="Calibri" panose="020F0502020204030204" pitchFamily="34" charset="0"/>
            </a:endParaRPr>
          </a:p>
          <a:p>
            <a:endParaRPr lang="en-US" sz="1600" b="1"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/>
                <a:ea typeface="MS PGothic"/>
                <a:cs typeface="Calibri"/>
              </a:rPr>
              <a:t>• Open Weather API – https://openweathermap.org/api </a:t>
            </a:r>
            <a:endParaRPr lang="en-US" sz="1600" b="1">
              <a:cs typeface="Calibri"/>
            </a:endParaRPr>
          </a:p>
          <a:p>
            <a:endParaRPr lang="en-US" sz="1600" b="1" dirty="0">
              <a:latin typeface="Calibri"/>
              <a:ea typeface="MS PGothic"/>
              <a:cs typeface="Calibri"/>
            </a:endParaRPr>
          </a:p>
          <a:p>
            <a:r>
              <a:rPr lang="en-US" sz="1600" b="1" dirty="0">
                <a:latin typeface="Calibri"/>
                <a:ea typeface="MS PGothic"/>
                <a:cs typeface="Calibri"/>
              </a:rPr>
              <a:t>• Drone Policy 2021 – Ministry of Civil Aviation </a:t>
            </a:r>
            <a:endParaRPr lang="en-US" sz="1600" b="1">
              <a:cs typeface="Calibri"/>
            </a:endParaRPr>
          </a:p>
          <a:p>
            <a:endParaRPr lang="en-US" sz="1600" b="1" dirty="0">
              <a:latin typeface="Calibri"/>
              <a:ea typeface="MS PGothic"/>
              <a:cs typeface="Calibri"/>
            </a:endParaRPr>
          </a:p>
          <a:p>
            <a:r>
              <a:rPr lang="en-US" sz="1600" b="1" dirty="0">
                <a:latin typeface="Calibri"/>
                <a:ea typeface="MS PGothic"/>
                <a:cs typeface="Calibri"/>
              </a:rPr>
              <a:t>• NABARD Fintech Innovation Reports </a:t>
            </a:r>
            <a:endParaRPr lang="en-US" sz="1600" b="1">
              <a:cs typeface="Calibri"/>
            </a:endParaRPr>
          </a:p>
          <a:p>
            <a:endParaRPr lang="en-US" sz="1600" b="1" dirty="0">
              <a:latin typeface="Calibri"/>
              <a:ea typeface="MS PGothic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alibri"/>
                <a:ea typeface="MS PGothic"/>
                <a:cs typeface="Calibri"/>
              </a:rPr>
              <a:t>• Kerala Agricultural University (KAU)</a:t>
            </a:r>
            <a:r>
              <a:rPr lang="en-US" sz="1600" dirty="0">
                <a:latin typeface="Calibri"/>
                <a:ea typeface="Calibri"/>
                <a:cs typeface="Calibri"/>
              </a:rPr>
              <a:t>Kerala Agricultural University (KAU) is a </a:t>
            </a:r>
            <a:r>
              <a:rPr lang="en-US" sz="1600" b="1" dirty="0">
                <a:latin typeface="Calibri"/>
                <a:ea typeface="Calibri"/>
                <a:cs typeface="Calibri"/>
              </a:rPr>
              <a:t>State Agricultural University</a:t>
            </a:r>
            <a:r>
              <a:rPr lang="en-US" sz="1600" dirty="0">
                <a:latin typeface="Calibri"/>
                <a:ea typeface="Calibri"/>
                <a:cs typeface="Calibri"/>
              </a:rPr>
              <a:t> in Kerala, India. </a:t>
            </a:r>
            <a:r>
              <a:rPr lang="en-US" sz="1600" dirty="0">
                <a:latin typeface="Calibri"/>
                <a:ea typeface="Calibri"/>
                <a:cs typeface="Calibri"/>
                <a:hlinkClick r:id="rId5"/>
              </a:rPr>
              <a:t>Wikipedia+2Kerala Agricultural University+2</a:t>
            </a:r>
          </a:p>
          <a:p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It was established under the </a:t>
            </a:r>
            <a:r>
              <a:rPr lang="en-US" sz="1600" b="1" dirty="0">
                <a:latin typeface="Calibri"/>
                <a:ea typeface="Calibri"/>
                <a:cs typeface="Calibri"/>
              </a:rPr>
              <a:t>Agricultural University Act, 1971</a:t>
            </a:r>
            <a:r>
              <a:rPr lang="en-US" sz="1600" dirty="0">
                <a:latin typeface="Calibri"/>
                <a:ea typeface="Calibri"/>
                <a:cs typeface="Calibri"/>
              </a:rPr>
              <a:t> (Act 33 of 1971), on </a:t>
            </a:r>
            <a:r>
              <a:rPr lang="en-US" sz="1600" b="1" dirty="0">
                <a:latin typeface="Calibri"/>
                <a:ea typeface="Calibri"/>
                <a:cs typeface="Calibri"/>
              </a:rPr>
              <a:t>24 February 1971</a:t>
            </a:r>
            <a:r>
              <a:rPr lang="en-US" sz="1600" dirty="0">
                <a:latin typeface="Calibri"/>
                <a:ea typeface="Calibri"/>
                <a:cs typeface="Calibri"/>
              </a:rPr>
              <a:t>, but became operational from </a:t>
            </a:r>
            <a:r>
              <a:rPr lang="en-US" sz="1600" b="1" dirty="0">
                <a:latin typeface="Calibri"/>
                <a:ea typeface="Calibri"/>
                <a:cs typeface="Calibri"/>
              </a:rPr>
              <a:t>1 February 1972</a:t>
            </a:r>
            <a:r>
              <a:rPr lang="en-US" sz="1600" dirty="0">
                <a:latin typeface="Calibri"/>
                <a:ea typeface="Calibri"/>
                <a:cs typeface="Calibri"/>
              </a:rPr>
              <a:t>. </a:t>
            </a:r>
            <a:endParaRPr lang="en-US" dirty="0"/>
          </a:p>
          <a:p>
            <a:endParaRPr lang="en-US" sz="1600" b="1" dirty="0">
              <a:latin typeface="Calibri"/>
              <a:ea typeface="MS PGothic"/>
              <a:cs typeface="Calibri"/>
            </a:endParaRPr>
          </a:p>
          <a:p>
            <a:endParaRPr lang="en-US" sz="1600" b="1" dirty="0"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503</Words>
  <Application>Microsoft Office PowerPoint</Application>
  <PresentationFormat>Widescreen</PresentationFormat>
  <Paragraphs>72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Harsh Pandey</cp:lastModifiedBy>
  <cp:revision>694</cp:revision>
  <dcterms:created xsi:type="dcterms:W3CDTF">2013-12-12T18:46:00Z</dcterms:created>
  <dcterms:modified xsi:type="dcterms:W3CDTF">2025-10-06T10:20:35Z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